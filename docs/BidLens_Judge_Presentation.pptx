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BidLens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AI Procurement Decision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Other tools compare bids.</a:t>
            </a:r>
            <a:br/>
            <a:r>
              <a:t>BidLens stress-tests the decision.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Procurement teams receive proposals that are difficult to compare reliably.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Different pricing structures hide the real cost of ownership.</a:t>
            </a:r>
          </a:p>
          <a:p>
            <a:pPr>
              <a:spcAft>
                <a:spcPts val="1200"/>
              </a:spcAft>
              <a:defRPr sz="2000"/>
            </a:pPr>
            <a:r>
              <a:t>Critical clauses, missing information and contradictory terms are buried in long proposals.</a:t>
            </a:r>
          </a:p>
          <a:p>
            <a:pPr>
              <a:spcAft>
                <a:spcPts val="1200"/>
              </a:spcAft>
              <a:defRPr sz="2000"/>
            </a:pPr>
            <a:r>
              <a:t>Weighted scores can accidentally compensate for a mandatory requirement failure.</a:t>
            </a:r>
          </a:p>
          <a:p>
            <a:pPr>
              <a:spcAft>
                <a:spcPts val="1200"/>
              </a:spcAft>
              <a:defRPr sz="2000"/>
            </a:pPr>
            <a:r>
              <a:t>Most importantly: the best vendor today may not be the best vendor when volume, term or assumptions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From unstructured proposals to an evidence-backed, stress-tested award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Gemini extracts commercial and technical facts with evidence and confidence.</a:t>
            </a:r>
          </a:p>
          <a:p>
            <a:pPr>
              <a:spcAft>
                <a:spcPts val="1200"/>
              </a:spcAft>
              <a:defRPr sz="1800"/>
            </a:pPr>
            <a:r>
              <a:t>BidLens classifies requirements as PASS / FAIL / UNKNOWN and enforces mandatory gates.</a:t>
            </a:r>
          </a:p>
          <a:p>
            <a:pPr>
              <a:spcAft>
                <a:spcPts val="1200"/>
              </a:spcAft>
              <a:defRPr sz="1800"/>
            </a:pPr>
            <a:r>
              <a:t>Deterministic scoring calculates TCO and protects the decision from LLM arithmetic errors.</a:t>
            </a:r>
          </a:p>
          <a:p>
            <a:pPr>
              <a:spcAft>
                <a:spcPts val="1200"/>
              </a:spcAft>
              <a:defRPr sz="1800"/>
            </a:pPr>
            <a:r>
              <a:t>Counterfactual simulation answers: 'What happens if our assumptions change?'</a:t>
            </a:r>
          </a:p>
          <a:p>
            <a:pPr>
              <a:spcAft>
                <a:spcPts val="1200"/>
              </a:spcAft>
              <a:defRPr sz="1800"/>
            </a:pPr>
            <a:r>
              <a:t>Negotiation Copilot turns proposal differences into evidence-backed negotiation levers.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Turn hours of manual comparison into an auditable decision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Faster: summarize and normalize multiple proposals in one decision room.</a:t>
            </a:r>
          </a:p>
          <a:p>
            <a:pPr>
              <a:spcAft>
                <a:spcPts val="1200"/>
              </a:spcAft>
              <a:defRPr sz="2000"/>
            </a:pPr>
            <a:r>
              <a:t>Safer: surface hidden costs, omissions, contradictions and hard-gate failures.</a:t>
            </a:r>
          </a:p>
          <a:p>
            <a:pPr>
              <a:spcAft>
                <a:spcPts val="1200"/>
              </a:spcAft>
              <a:defRPr sz="2000"/>
            </a:pPr>
            <a:r>
              <a:t>Defensible: every material finding can point back to proposal evidence.</a:t>
            </a:r>
          </a:p>
          <a:p>
            <a:pPr>
              <a:spcAft>
                <a:spcPts val="1200"/>
              </a:spcAft>
              <a:defRPr sz="2000"/>
            </a:pPr>
            <a:r>
              <a:t>Strategic: test future demand and contract assumptions before signing.</a:t>
            </a:r>
          </a:p>
          <a:p>
            <a:pPr>
              <a:spcAft>
                <a:spcPts val="1200"/>
              </a:spcAft>
              <a:defRPr sz="2000"/>
            </a:pPr>
            <a:r>
              <a:t>Actionable: move directly from 'who wins?' to 'what should we negotiate?'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Near Comparables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How BidLens is different from adjacent approaches.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Spreadsheet / manual matrix → good for known fields, weak on buried language and inconsistent pricing.</a:t>
            </a:r>
          </a:p>
          <a:p>
            <a:pPr>
              <a:spcAft>
                <a:spcPts val="1200"/>
              </a:spcAft>
              <a:defRPr sz="1800"/>
            </a:pPr>
            <a:r>
              <a:t>Generic document AI → extracts/summarizes, but often stops before decision economics.</a:t>
            </a:r>
          </a:p>
          <a:p>
            <a:pPr>
              <a:spcAft>
                <a:spcPts val="1200"/>
              </a:spcAft>
              <a:defRPr sz="1800"/>
            </a:pPr>
            <a:r>
              <a:t>RFP / sourcing suites → workflow and supplier management, but the hackathon differentiator is live evidence + counterfactual decision simulation.</a:t>
            </a:r>
          </a:p>
          <a:p>
            <a:pPr>
              <a:spcAft>
                <a:spcPts val="1200"/>
              </a:spcAft>
              <a:defRPr sz="1800"/>
            </a:pPr>
            <a:r>
              <a:t>LLM chatbot → conversational, but BidLens separates AI understanding from deterministic decision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WOW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decision can change when the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Start with 1,000 users → run award analysis.</a:t>
            </a:r>
          </a:p>
          <a:p>
            <a:pPr>
              <a:spcAft>
                <a:spcPts val="1200"/>
              </a:spcAft>
              <a:defRPr sz="1800"/>
            </a:pPr>
            <a:r>
              <a:t>Change one assumption: 1,000 → 8,000 users.</a:t>
            </a:r>
          </a:p>
          <a:p>
            <a:pPr>
              <a:spcAft>
                <a:spcPts val="1200"/>
              </a:spcAft>
              <a:defRPr sz="1800"/>
            </a:pPr>
            <a:r>
              <a:t>Watch the scenario engine recalculate TCO and ranking.</a:t>
            </a:r>
          </a:p>
          <a:p>
            <a:pPr>
              <a:spcAft>
                <a:spcPts val="1200"/>
              </a:spcAft>
              <a:defRPr sz="1800"/>
            </a:pPr>
            <a:r>
              <a:t>Ask: 'Why did the winner change?'</a:t>
            </a:r>
          </a:p>
          <a:p>
            <a:pPr>
              <a:spcAft>
                <a:spcPts val="1200"/>
              </a:spcAft>
              <a:defRPr sz="1800"/>
            </a:pPr>
            <a:r>
              <a:t>BidLens explains the driver and traces it back to the vendor's pricing structure.</a:t>
            </a:r>
          </a:p>
          <a:p>
            <a:pPr>
              <a:spcAft>
                <a:spcPts val="1200"/>
              </a:spcAft>
              <a:defRPr sz="1800"/>
            </a:pPr>
            <a:r>
              <a:t>Second WOW: relax a hard requirement from 60 → 90 days and show a previously disqualified vendor become eligible.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AI understands the proposals; deterministic logic protects the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868680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89611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Frontend / Decision Room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1325880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" y="1563624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91056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Upload • templates • battlecard • simulator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020824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40" y="2258568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85999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API + orchestration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715768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" y="2953512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98094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Extraction • Risk • Award • Negotiation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3410712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648456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EVIDENCE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67588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Facts • confidence • PASS/FAIL/UNKNOWN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1680" y="4105656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4343400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DETERMINISTIC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370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Hard gates • TCO • weighted scoring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4800600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" y="5038344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SCENARIO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065776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Volume • horizon • renewal counterfactuals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5495544"/>
            <a:ext cx="0" cy="2286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" y="5733288"/>
            <a:ext cx="201168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760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Saved runs / demo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Judge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4-minute story designed to be remembered.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0:00 — Show three messy vendor proposals.</a:t>
            </a:r>
          </a:p>
          <a:p>
            <a:pPr>
              <a:spcAft>
                <a:spcPts val="1200"/>
              </a:spcAft>
              <a:defRPr sz="1700"/>
            </a:pPr>
            <a:r>
              <a:t>0:20 — Select 'Enterprise SaaS / CRM' template and upload proposals.</a:t>
            </a:r>
          </a:p>
          <a:p>
            <a:pPr>
              <a:spcAft>
                <a:spcPts val="1200"/>
              </a:spcAft>
              <a:defRPr sz="1700"/>
            </a:pPr>
            <a:r>
              <a:t>1:00 — Reveal battlecard + PASS/FAIL/UNKNOWN requirement gates.</a:t>
            </a:r>
          </a:p>
          <a:p>
            <a:pPr>
              <a:spcAft>
                <a:spcPts val="1200"/>
              </a:spcAft>
              <a:defRPr sz="1700"/>
            </a:pPr>
            <a:r>
              <a:t>1:30 — Open a hidden risk and show evidence.</a:t>
            </a:r>
          </a:p>
          <a:p>
            <a:pPr>
              <a:spcAft>
                <a:spcPts val="1200"/>
              </a:spcAft>
              <a:defRPr sz="1700"/>
            </a:pPr>
            <a:r>
              <a:t>2:00 — Counterfactual: change volume from 1,000 to 8,000.</a:t>
            </a:r>
          </a:p>
          <a:p>
            <a:pPr>
              <a:spcAft>
                <a:spcPts val="1200"/>
              </a:spcAft>
              <a:defRPr sz="1700"/>
            </a:pPr>
            <a:r>
              <a:t>2:30 — Ask 'Why did the winner change?'</a:t>
            </a:r>
          </a:p>
          <a:p>
            <a:pPr>
              <a:spcAft>
                <a:spcPts val="1200"/>
              </a:spcAft>
              <a:defRPr sz="1700"/>
            </a:pPr>
            <a:r>
              <a:t>3:10 — Run Negotiation Copilot.</a:t>
            </a:r>
          </a:p>
          <a:p>
            <a:pPr>
              <a:spcAft>
                <a:spcPts val="1200"/>
              </a:spcAft>
              <a:defRPr sz="1700"/>
            </a:pPr>
            <a:r>
              <a:t>3:40 — Reveal architecture and deterministic decision guardrail.</a:t>
            </a:r>
          </a:p>
          <a:p>
            <a:pPr>
              <a:spcAft>
                <a:spcPts val="1200"/>
              </a:spcAft>
              <a:defRPr sz="1700"/>
            </a:pPr>
            <a:r>
              <a:t>4:00 — Close: 'Other tools compare bids. BidLens stress-tests the decision.'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Judges Should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Problem → Solution → Impact → Near Comparables → Wow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proposal comparison is slow, inconsistent and easy to get wrong.</a:t>
            </a:r>
          </a:p>
          <a:p>
            <a:pPr>
              <a:spcAft>
                <a:spcPts val="1200"/>
              </a:spcAft>
              <a:defRPr sz="2000"/>
            </a:pPr>
            <a:r>
              <a:t>SOLUTION: evidence-grounded AI + hard requirement gates + deterministic TCO + scenario simulation.</a:t>
            </a:r>
          </a:p>
          <a:p>
            <a:pPr>
              <a:spcAft>
                <a:spcPts val="1200"/>
              </a:spcAft>
              <a:defRPr sz="2000"/>
            </a:pPr>
            <a:r>
              <a:t>IMPACT: faster, safer, more defensible procurement decisions.</a:t>
            </a:r>
          </a:p>
          <a:p>
            <a:pPr>
              <a:spcAft>
                <a:spcPts val="1200"/>
              </a:spcAft>
              <a:defRPr sz="2000"/>
            </a:pPr>
            <a:r>
              <a:t>NEAR COMPARABLES: extraction tools summarize; BidLens tests the decision.</a:t>
            </a:r>
          </a:p>
          <a:p>
            <a:pPr>
              <a:spcAft>
                <a:spcPts val="1200"/>
              </a:spcAft>
              <a:defRPr sz="2000"/>
            </a:pPr>
            <a:r>
              <a:t>WOW: change one future assumption and watch the award decision change — with an explanation.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